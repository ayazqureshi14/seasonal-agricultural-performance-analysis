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1"/>
  </p:notesMasterIdLst>
  <p:handoutMasterIdLst>
    <p:handoutMasterId r:id="rId22"/>
  </p:handoutMasterIdLst>
  <p:sldIdLst>
    <p:sldId id="338" r:id="rId5"/>
    <p:sldId id="327" r:id="rId6"/>
    <p:sldId id="315" r:id="rId7"/>
    <p:sldId id="329" r:id="rId8"/>
    <p:sldId id="302" r:id="rId9"/>
    <p:sldId id="339" r:id="rId10"/>
    <p:sldId id="340" r:id="rId11"/>
    <p:sldId id="344" r:id="rId12"/>
    <p:sldId id="345" r:id="rId13"/>
    <p:sldId id="346" r:id="rId14"/>
    <p:sldId id="347" r:id="rId15"/>
    <p:sldId id="348" r:id="rId16"/>
    <p:sldId id="341" r:id="rId17"/>
    <p:sldId id="342" r:id="rId18"/>
    <p:sldId id="343" r:id="rId19"/>
    <p:sldId id="30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121" d="100"/>
          <a:sy n="121" d="100"/>
        </p:scale>
        <p:origin x="475" y="91"/>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9/7/2026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9/7/2026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9/7/2026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9/7/2026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590344" y="3588198"/>
            <a:ext cx="3400089" cy="861497"/>
          </a:xfrm>
        </p:spPr>
        <p:txBody>
          <a:bodyPr vert="horz" lIns="91440" tIns="45720" rIns="91440" bIns="45720" rtlCol="0" anchor="t">
            <a:normAutofit/>
          </a:bodyPr>
          <a:lstStyle/>
          <a:p>
            <a:pPr algn="r"/>
            <a:r>
              <a:rPr lang="en-US" b="0" dirty="0">
                <a:solidFill>
                  <a:schemeClr val="tx1"/>
                </a:solidFill>
              </a:rPr>
              <a:t>MOHAMMAD AYAZ QURESHI </a:t>
            </a:r>
            <a:endParaRPr lang="en-IN" b="0" dirty="0">
              <a:solidFill>
                <a:schemeClr val="tx1"/>
              </a:solidFill>
            </a:endParaRPr>
          </a:p>
          <a:p>
            <a:pPr algn="r"/>
            <a:r>
              <a:rPr lang="en-US" b="0" dirty="0">
                <a:solidFill>
                  <a:schemeClr val="tx1"/>
                </a:solidFill>
              </a:rPr>
              <a:t>JAMIA MILLIA ISLAMIA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427890"/>
            <a:ext cx="7633217" cy="1160308"/>
          </a:xfrm>
        </p:spPr>
        <p:txBody>
          <a:bodyPr>
            <a:normAutofit/>
          </a:bodyPr>
          <a:lstStyle/>
          <a:p>
            <a:r>
              <a:rPr lang="en-GB" sz="3200" dirty="0"/>
              <a:t>Project Title – 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3176362" cy="923330"/>
          </a:xfrm>
          <a:prstGeom prst="rect">
            <a:avLst/>
          </a:prstGeom>
          <a:noFill/>
        </p:spPr>
        <p:txBody>
          <a:bodyPr wrap="square" rtlCol="0">
            <a:spAutoFit/>
          </a:bodyPr>
          <a:lstStyle/>
          <a:p>
            <a:r>
              <a:rPr lang="en-US" b="1" dirty="0"/>
              <a:t>AICTE STU ID : STU6a663c5ae7ee41785085018</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718050"/>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r>
              <a:rPr lang="en-US" sz="1800" b="0" dirty="0"/>
              <a:t>This project analyzes agricultural performance across Kharif, Rabi and Zaid seasons using data on crop yield, production, environmental conditions, resource usage and financial outcomes.</a:t>
            </a:r>
            <a:br>
              <a:rPr lang="en-US" sz="1800" b="0" dirty="0"/>
            </a:br>
            <a:br>
              <a:rPr lang="en-US" sz="1800" b="0" dirty="0"/>
            </a:br>
            <a:r>
              <a:rPr lang="en-US" sz="1800" b="0" dirty="0"/>
              <a:t>The analysis uses Python, Pandas and Matplotlib to clean and explore the dataset, compare seasonal and crop-wise performance, study relationships between agricultural factors and yield, and identify differences in profitability and resource efficiency.</a:t>
            </a:r>
            <a:br>
              <a:rPr lang="en-US" sz="1800" b="0" dirty="0"/>
            </a:br>
            <a:br>
              <a:rPr lang="en-US" sz="1800" b="0" dirty="0"/>
            </a:br>
            <a:r>
              <a:rPr lang="en-US" sz="1800" b="0" dirty="0"/>
              <a:t>The findings are used to identify high-performing crops, seasonal patterns, resource-use trends and areas for improving agricultural productivity and profitability.</a:t>
            </a: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77500" lnSpcReduction="20000"/>
          </a:bodyPr>
          <a:lstStyle/>
          <a:p>
            <a:pPr algn="just">
              <a:lnSpc>
                <a:spcPct val="150000"/>
              </a:lnSpc>
            </a:pPr>
            <a:r>
              <a:rPr lang="en-US" sz="1800" dirty="0"/>
              <a:t>Farmers – To understand seasonal crop performance, resource use and profitability.</a:t>
            </a:r>
          </a:p>
          <a:p>
            <a:pPr algn="just">
              <a:lnSpc>
                <a:spcPct val="150000"/>
              </a:lnSpc>
            </a:pPr>
            <a:r>
              <a:rPr lang="en-US" sz="1800" dirty="0"/>
              <a:t>Agricultural Planners – To support seasonal planning and resource allocation.</a:t>
            </a:r>
          </a:p>
          <a:p>
            <a:pPr algn="just">
              <a:lnSpc>
                <a:spcPct val="150000"/>
              </a:lnSpc>
            </a:pPr>
            <a:r>
              <a:rPr lang="en-US" sz="1800" dirty="0"/>
              <a:t>Government &amp; Policymakers – To identify agricultural trends and improve decision-making.</a:t>
            </a:r>
          </a:p>
          <a:p>
            <a:pPr algn="just">
              <a:lnSpc>
                <a:spcPct val="150000"/>
              </a:lnSpc>
            </a:pPr>
            <a:r>
              <a:rPr lang="en-US" sz="1800" dirty="0"/>
              <a:t>Agribusinesses – To evaluate crop profitability, production and market-related performance.</a:t>
            </a:r>
          </a:p>
          <a:p>
            <a:pPr algn="just">
              <a:lnSpc>
                <a:spcPct val="150000"/>
              </a:lnSpc>
            </a:pPr>
            <a:r>
              <a:rPr lang="en-US" sz="1800" dirty="0"/>
              <a:t>Researchers &amp; Students – To study seasonal agricultural patterns and relationships. </a:t>
            </a:r>
          </a:p>
          <a:p>
            <a:pPr algn="just">
              <a:lnSpc>
                <a:spcPct val="150000"/>
              </a:lnSpc>
            </a:pPr>
            <a:r>
              <a:rPr lang="en-US" sz="1800" dirty="0"/>
              <a:t>Farmers – To understand seasonal crop performance, resource use and profitability.</a:t>
            </a:r>
          </a:p>
          <a:p>
            <a:pPr algn="just">
              <a:lnSpc>
                <a:spcPct val="150000"/>
              </a:lnSpc>
            </a:pPr>
            <a:r>
              <a:rPr lang="en-US" sz="1800" dirty="0"/>
              <a:t>Agricultural Planners – To support seasonal planning and resource allocation.</a:t>
            </a:r>
          </a:p>
          <a:p>
            <a:pPr algn="just">
              <a:lnSpc>
                <a:spcPct val="150000"/>
              </a:lnSpc>
            </a:pPr>
            <a:r>
              <a:rPr lang="en-US" sz="1800" dirty="0"/>
              <a:t>Government &amp; Policymakers – To identify agricultural trends and improve decision-making.</a:t>
            </a:r>
          </a:p>
          <a:p>
            <a:pPr algn="just">
              <a:lnSpc>
                <a:spcPct val="150000"/>
              </a:lnSpc>
            </a:pPr>
            <a:r>
              <a:rPr lang="en-US" sz="1800" dirty="0"/>
              <a:t>Agribusinesses – To evaluate crop profitability, production and market-related performance.</a:t>
            </a:r>
          </a:p>
          <a:p>
            <a:pPr algn="just">
              <a:lnSpc>
                <a:spcPct val="150000"/>
              </a:lnSpc>
            </a:pPr>
            <a:r>
              <a:rPr lang="en-US" sz="1800" dirty="0"/>
              <a:t>Researchers &amp; Students – To study seasonal agricultural patterns and relationships.</a:t>
            </a:r>
            <a:endParaRPr lang="en-IN" sz="18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7" end="7"/>
                                            </p:txEl>
                                          </p:spTgt>
                                        </p:tgtEl>
                                        <p:attrNameLst>
                                          <p:attrName>style.visibility</p:attrName>
                                        </p:attrNameLst>
                                      </p:cBhvr>
                                      <p:to>
                                        <p:strVal val="visible"/>
                                      </p:to>
                                    </p:set>
                                    <p:animEffect transition="in" filter="fade">
                                      <p:cBhvr>
                                        <p:cTn id="63" dur="1000"/>
                                        <p:tgtEl>
                                          <p:spTgt spid="2">
                                            <p:txEl>
                                              <p:pRg st="7" end="7"/>
                                            </p:txEl>
                                          </p:spTgt>
                                        </p:tgtEl>
                                      </p:cBhvr>
                                    </p:animEffect>
                                    <p:anim calcmode="lin" valueType="num">
                                      <p:cBhvr>
                                        <p:cTn id="6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2">
                                            <p:txEl>
                                              <p:pRg st="8" end="8"/>
                                            </p:txEl>
                                          </p:spTgt>
                                        </p:tgtEl>
                                        <p:attrNameLst>
                                          <p:attrName>style.visibility</p:attrName>
                                        </p:attrNameLst>
                                      </p:cBhvr>
                                      <p:to>
                                        <p:strVal val="visible"/>
                                      </p:to>
                                    </p:set>
                                    <p:animEffect transition="in" filter="fade">
                                      <p:cBhvr>
                                        <p:cTn id="70" dur="1000"/>
                                        <p:tgtEl>
                                          <p:spTgt spid="2">
                                            <p:txEl>
                                              <p:pRg st="8" end="8"/>
                                            </p:txEl>
                                          </p:spTgt>
                                        </p:tgtEl>
                                      </p:cBhvr>
                                    </p:animEffect>
                                    <p:anim calcmode="lin" valueType="num">
                                      <p:cBhvr>
                                        <p:cTn id="71"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2">
                                            <p:txEl>
                                              <p:pRg st="9" end="9"/>
                                            </p:txEl>
                                          </p:spTgt>
                                        </p:tgtEl>
                                        <p:attrNameLst>
                                          <p:attrName>style.visibility</p:attrName>
                                        </p:attrNameLst>
                                      </p:cBhvr>
                                      <p:to>
                                        <p:strVal val="visible"/>
                                      </p:to>
                                    </p:set>
                                    <p:animEffect transition="in" filter="fade">
                                      <p:cBhvr>
                                        <p:cTn id="77" dur="1000"/>
                                        <p:tgtEl>
                                          <p:spTgt spid="2">
                                            <p:txEl>
                                              <p:pRg st="9" end="9"/>
                                            </p:txEl>
                                          </p:spTgt>
                                        </p:tgtEl>
                                      </p:cBhvr>
                                    </p:animEffect>
                                    <p:anim calcmode="lin" valueType="num">
                                      <p:cBhvr>
                                        <p:cTn id="78"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2">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r>
              <a:rPr lang="en-IN" dirty="0"/>
              <a:t> Python – Main programming language for data analysis</a:t>
            </a:r>
          </a:p>
          <a:p>
            <a:pPr lvl="1">
              <a:lnSpc>
                <a:spcPct val="150000"/>
              </a:lnSpc>
            </a:pPr>
            <a:r>
              <a:rPr lang="en-IN" dirty="0"/>
              <a:t> Jupyter Notebook – Development environment</a:t>
            </a:r>
          </a:p>
          <a:p>
            <a:pPr lvl="1">
              <a:lnSpc>
                <a:spcPct val="150000"/>
              </a:lnSpc>
            </a:pPr>
            <a:r>
              <a:rPr lang="en-IN" dirty="0"/>
              <a:t> Pandas – Data cleaning, manipulation and analysis</a:t>
            </a:r>
          </a:p>
          <a:p>
            <a:pPr lvl="1">
              <a:lnSpc>
                <a:spcPct val="150000"/>
              </a:lnSpc>
            </a:pPr>
            <a:r>
              <a:rPr lang="en-IN" dirty="0"/>
              <a:t> Matplotlib – Data visualization and charts</a:t>
            </a:r>
          </a:p>
          <a:p>
            <a:pPr lvl="1">
              <a:lnSpc>
                <a:spcPct val="150000"/>
              </a:lnSpc>
            </a:pPr>
            <a:r>
              <a:rPr lang="en-IN" dirty="0"/>
              <a:t> SciPy – Statistical analysis and ANOVA testing</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EF8D209E-657E-E7C7-40AE-EF4ACEA32E58}"/>
              </a:ext>
            </a:extLst>
          </p:cNvPr>
          <p:cNvSpPr txBox="1"/>
          <p:nvPr/>
        </p:nvSpPr>
        <p:spPr>
          <a:xfrm>
            <a:off x="788277" y="1538714"/>
            <a:ext cx="11678600" cy="4154984"/>
          </a:xfrm>
          <a:prstGeom prst="rect">
            <a:avLst/>
          </a:prstGeom>
          <a:noFill/>
        </p:spPr>
        <p:txBody>
          <a:bodyPr wrap="square" rtlCol="0">
            <a:spAutoFit/>
          </a:bodyPr>
          <a:lstStyle/>
          <a:p>
            <a:r>
              <a:rPr lang="en-US" sz="2400" dirty="0"/>
              <a:t>Key Results from the Analysis</a:t>
            </a:r>
          </a:p>
          <a:p>
            <a:endParaRPr lang="en-US" sz="2400" dirty="0"/>
          </a:p>
          <a:p>
            <a:r>
              <a:rPr lang="en-US" sz="2400" dirty="0"/>
              <a:t>* Kharif recorded the highest average crop yield at 5.64 </a:t>
            </a:r>
            <a:r>
              <a:rPr lang="en-US" sz="2400" dirty="0" err="1"/>
              <a:t>tonnes</a:t>
            </a:r>
            <a:r>
              <a:rPr lang="en-US" sz="2400" dirty="0"/>
              <a:t>/ha.</a:t>
            </a:r>
          </a:p>
          <a:p>
            <a:r>
              <a:rPr lang="en-US" sz="2400" dirty="0"/>
              <a:t>* Kharif also achieved the highest average profit of approximately ₹1.79 lakh.</a:t>
            </a:r>
          </a:p>
          <a:p>
            <a:r>
              <a:rPr lang="en-US" sz="2400" dirty="0"/>
              <a:t>* Zaid had the lowest average yield (4.67 </a:t>
            </a:r>
            <a:r>
              <a:rPr lang="en-US" sz="2400" dirty="0" err="1"/>
              <a:t>tonnes</a:t>
            </a:r>
            <a:r>
              <a:rPr lang="en-US" sz="2400" dirty="0"/>
              <a:t>/ha) and an average loss of ₹26,592.</a:t>
            </a:r>
          </a:p>
          <a:p>
            <a:r>
              <a:rPr lang="en-US" sz="2400" dirty="0"/>
              <a:t>* Sugarcane was the strongest-performing crop, with an average profit of approximately ₹8.17 lakh.</a:t>
            </a:r>
          </a:p>
          <a:p>
            <a:r>
              <a:rPr lang="en-US" sz="2400" dirty="0"/>
              <a:t>* Drip irrigation showed the highest average yield (6.62 </a:t>
            </a:r>
            <a:r>
              <a:rPr lang="en-US" sz="2400" dirty="0" err="1"/>
              <a:t>tonnes</a:t>
            </a:r>
            <a:r>
              <a:rPr lang="en-US" sz="2400" dirty="0"/>
              <a:t>/ha) and profit (₹2.20 lakh).</a:t>
            </a:r>
          </a:p>
          <a:p>
            <a:r>
              <a:rPr lang="en-US" sz="2400" dirty="0"/>
              <a:t>* Water used and crop yield showed a positive correlation of 0.389.</a:t>
            </a:r>
            <a:endParaRPr lang="en-IN" sz="2400"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6640436" y="2308071"/>
            <a:ext cx="3934572" cy="781969"/>
          </a:xfrm>
        </p:spPr>
        <p:txBody>
          <a:bodyPr>
            <a:noAutofit/>
          </a:bodyPr>
          <a:lstStyle/>
          <a:p>
            <a:pPr marL="0" indent="0">
              <a:buNone/>
            </a:pPr>
            <a:r>
              <a:rPr lang="en-US" sz="1800" dirty="0"/>
              <a:t>* Kharif recorded the highest average yield at 5.64 </a:t>
            </a:r>
            <a:r>
              <a:rPr lang="en-US" sz="1800" dirty="0" err="1"/>
              <a:t>tonnes</a:t>
            </a:r>
            <a:r>
              <a:rPr lang="en-US" sz="1800" dirty="0"/>
              <a:t>/ha.</a:t>
            </a:r>
          </a:p>
          <a:p>
            <a:pPr marL="0" indent="0">
              <a:buNone/>
            </a:pPr>
            <a:r>
              <a:rPr lang="en-US" sz="1800" dirty="0"/>
              <a:t>* Yield decreased to 5.08 </a:t>
            </a:r>
            <a:r>
              <a:rPr lang="en-US" sz="1800" dirty="0" err="1"/>
              <a:t>tonnes</a:t>
            </a:r>
            <a:r>
              <a:rPr lang="en-US" sz="1800" dirty="0"/>
              <a:t>/ha in Rabi and 4.67 </a:t>
            </a:r>
            <a:r>
              <a:rPr lang="en-US" sz="1800" dirty="0" err="1"/>
              <a:t>tonnes</a:t>
            </a:r>
            <a:r>
              <a:rPr lang="en-US" sz="1800" dirty="0"/>
              <a:t>/ha in Zaid.</a:t>
            </a:r>
          </a:p>
          <a:p>
            <a:pPr marL="0" indent="0">
              <a:buNone/>
            </a:pPr>
            <a:r>
              <a:rPr lang="en-US" sz="1800" dirty="0"/>
              <a:t>* Overall, crop yield was highest in Kharif.</a:t>
            </a:r>
            <a:endParaRPr lang="en-IN" sz="1800" dirty="0"/>
          </a:p>
        </p:txBody>
      </p:sp>
      <p:pic>
        <p:nvPicPr>
          <p:cNvPr id="3" name="Picture 2">
            <a:extLst>
              <a:ext uri="{FF2B5EF4-FFF2-40B4-BE49-F238E27FC236}">
                <a16:creationId xmlns:a16="http://schemas.microsoft.com/office/drawing/2014/main" id="{B68856A1-20B3-7B9A-D6DB-62F2897C83B3}"/>
              </a:ext>
            </a:extLst>
          </p:cNvPr>
          <p:cNvPicPr>
            <a:picLocks noChangeAspect="1"/>
          </p:cNvPicPr>
          <p:nvPr/>
        </p:nvPicPr>
        <p:blipFill>
          <a:blip r:embed="rId3"/>
          <a:stretch>
            <a:fillRect/>
          </a:stretch>
        </p:blipFill>
        <p:spPr>
          <a:xfrm>
            <a:off x="472964" y="1060524"/>
            <a:ext cx="5884827" cy="5006047"/>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7327782" y="2320867"/>
            <a:ext cx="4275138" cy="2654730"/>
          </a:xfrm>
        </p:spPr>
        <p:txBody>
          <a:bodyPr>
            <a:normAutofit fontScale="32500" lnSpcReduction="20000"/>
          </a:bodyPr>
          <a:lstStyle/>
          <a:p>
            <a:pPr marL="0" indent="0">
              <a:buNone/>
            </a:pPr>
            <a:endParaRPr lang="en-US" dirty="0"/>
          </a:p>
          <a:p>
            <a:pPr marL="0" indent="0">
              <a:buNone/>
            </a:pPr>
            <a:r>
              <a:rPr lang="en-US" sz="7200" dirty="0"/>
              <a:t>* F-statistic: 34.292</a:t>
            </a:r>
          </a:p>
          <a:p>
            <a:pPr marL="0" indent="0">
              <a:buNone/>
            </a:pPr>
            <a:r>
              <a:rPr lang="en-US" sz="7200" dirty="0"/>
              <a:t>* P-value: 1.71 × 10⁻¹⁵</a:t>
            </a:r>
          </a:p>
          <a:p>
            <a:pPr marL="0" indent="0">
              <a:buNone/>
            </a:pPr>
            <a:r>
              <a:rPr lang="en-US" sz="7200" dirty="0"/>
              <a:t>* Profit differs significantly across seasons.</a:t>
            </a:r>
          </a:p>
          <a:p>
            <a:pPr marL="0" indent="0">
              <a:buNone/>
            </a:pPr>
            <a:r>
              <a:rPr lang="en-US" sz="7200" dirty="0"/>
              <a:t>* This indicates that season has a significant impact on agricultural profitability.</a:t>
            </a:r>
            <a:endParaRPr lang="en-IN" sz="7200" dirty="0"/>
          </a:p>
        </p:txBody>
      </p:sp>
      <p:pic>
        <p:nvPicPr>
          <p:cNvPr id="3" name="Picture 2">
            <a:extLst>
              <a:ext uri="{FF2B5EF4-FFF2-40B4-BE49-F238E27FC236}">
                <a16:creationId xmlns:a16="http://schemas.microsoft.com/office/drawing/2014/main" id="{D8D58FB4-1351-5434-E294-2DD696F6A194}"/>
              </a:ext>
            </a:extLst>
          </p:cNvPr>
          <p:cNvPicPr>
            <a:picLocks noChangeAspect="1"/>
          </p:cNvPicPr>
          <p:nvPr/>
        </p:nvPicPr>
        <p:blipFill>
          <a:blip r:embed="rId3"/>
          <a:stretch>
            <a:fillRect/>
          </a:stretch>
        </p:blipFill>
        <p:spPr>
          <a:xfrm>
            <a:off x="245376" y="1275371"/>
            <a:ext cx="6704064" cy="4991533"/>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1" end="1"/>
                                            </p:txEl>
                                          </p:spTgt>
                                        </p:tgtEl>
                                        <p:attrNameLst>
                                          <p:attrName>style.visibility</p:attrName>
                                        </p:attrNameLst>
                                      </p:cBhvr>
                                      <p:to>
                                        <p:strVal val="visible"/>
                                      </p:to>
                                    </p:set>
                                    <p:animEffect transition="in" filter="fade">
                                      <p:cBhvr>
                                        <p:cTn id="28" dur="1000"/>
                                        <p:tgtEl>
                                          <p:spTgt spid="10">
                                            <p:txEl>
                                              <p:pRg st="1" end="1"/>
                                            </p:txEl>
                                          </p:spTgt>
                                        </p:tgtEl>
                                      </p:cBhvr>
                                    </p:animEffect>
                                    <p:anim calcmode="lin" valueType="num">
                                      <p:cBhvr>
                                        <p:cTn id="29"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2" end="2"/>
                                            </p:txEl>
                                          </p:spTgt>
                                        </p:tgtEl>
                                        <p:attrNameLst>
                                          <p:attrName>style.visibility</p:attrName>
                                        </p:attrNameLst>
                                      </p:cBhvr>
                                      <p:to>
                                        <p:strVal val="visible"/>
                                      </p:to>
                                    </p:set>
                                    <p:animEffect transition="in" filter="fade">
                                      <p:cBhvr>
                                        <p:cTn id="35" dur="1000"/>
                                        <p:tgtEl>
                                          <p:spTgt spid="10">
                                            <p:txEl>
                                              <p:pRg st="2" end="2"/>
                                            </p:txEl>
                                          </p:spTgt>
                                        </p:tgtEl>
                                      </p:cBhvr>
                                    </p:animEffect>
                                    <p:anim calcmode="lin" valueType="num">
                                      <p:cBhvr>
                                        <p:cTn id="36"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3" end="3"/>
                                            </p:txEl>
                                          </p:spTgt>
                                        </p:tgtEl>
                                        <p:attrNameLst>
                                          <p:attrName>style.visibility</p:attrName>
                                        </p:attrNameLst>
                                      </p:cBhvr>
                                      <p:to>
                                        <p:strVal val="visible"/>
                                      </p:to>
                                    </p:set>
                                    <p:animEffect transition="in" filter="fade">
                                      <p:cBhvr>
                                        <p:cTn id="42" dur="1000"/>
                                        <p:tgtEl>
                                          <p:spTgt spid="10">
                                            <p:txEl>
                                              <p:pRg st="3" end="3"/>
                                            </p:txEl>
                                          </p:spTgt>
                                        </p:tgtEl>
                                      </p:cBhvr>
                                    </p:animEffect>
                                    <p:anim calcmode="lin" valueType="num">
                                      <p:cBhvr>
                                        <p:cTn id="43"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4" end="4"/>
                                            </p:txEl>
                                          </p:spTgt>
                                        </p:tgtEl>
                                        <p:attrNameLst>
                                          <p:attrName>style.visibility</p:attrName>
                                        </p:attrNameLst>
                                      </p:cBhvr>
                                      <p:to>
                                        <p:strVal val="visible"/>
                                      </p:to>
                                    </p:set>
                                    <p:animEffect transition="in" filter="fade">
                                      <p:cBhvr>
                                        <p:cTn id="49" dur="1000"/>
                                        <p:tgtEl>
                                          <p:spTgt spid="10">
                                            <p:txEl>
                                              <p:pRg st="4" end="4"/>
                                            </p:txEl>
                                          </p:spTgt>
                                        </p:tgtEl>
                                      </p:cBhvr>
                                    </p:animEffect>
                                    <p:anim calcmode="lin" valueType="num">
                                      <p:cBhvr>
                                        <p:cTn id="50"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3171992" y="4638405"/>
            <a:ext cx="4275138" cy="2125009"/>
          </a:xfrm>
        </p:spPr>
        <p:txBody>
          <a:bodyPr>
            <a:noAutofit/>
          </a:bodyPr>
          <a:lstStyle/>
          <a:p>
            <a:pPr marL="0" indent="0">
              <a:buNone/>
            </a:pPr>
            <a:r>
              <a:rPr lang="en-US" sz="1600" dirty="0"/>
              <a:t>* Drip irrigation achieved the highest yield and profit.</a:t>
            </a:r>
          </a:p>
          <a:p>
            <a:pPr marL="0" indent="0">
              <a:buNone/>
            </a:pPr>
            <a:r>
              <a:rPr lang="en-US" sz="1600" dirty="0"/>
              <a:t>* Flood irrigation used the most water while giving lower returns.</a:t>
            </a:r>
          </a:p>
          <a:p>
            <a:pPr marL="0" indent="0">
              <a:buNone/>
            </a:pPr>
            <a:r>
              <a:rPr lang="en-US" sz="1600" dirty="0"/>
              <a:t>* Overall, drip irrigation showed the strongest agricultural performance.</a:t>
            </a:r>
            <a:endParaRPr lang="en-IN" sz="1600" dirty="0"/>
          </a:p>
        </p:txBody>
      </p:sp>
      <p:pic>
        <p:nvPicPr>
          <p:cNvPr id="3" name="Picture 2">
            <a:extLst>
              <a:ext uri="{FF2B5EF4-FFF2-40B4-BE49-F238E27FC236}">
                <a16:creationId xmlns:a16="http://schemas.microsoft.com/office/drawing/2014/main" id="{A74A97B0-FB83-4F57-EAA6-DC3011CD9EE9}"/>
              </a:ext>
            </a:extLst>
          </p:cNvPr>
          <p:cNvPicPr>
            <a:picLocks noChangeAspect="1"/>
          </p:cNvPicPr>
          <p:nvPr/>
        </p:nvPicPr>
        <p:blipFill>
          <a:blip r:embed="rId3"/>
          <a:stretch>
            <a:fillRect/>
          </a:stretch>
        </p:blipFill>
        <p:spPr>
          <a:xfrm>
            <a:off x="89137" y="1724308"/>
            <a:ext cx="5069341" cy="2815643"/>
          </a:xfrm>
          <a:prstGeom prst="rect">
            <a:avLst/>
          </a:prstGeom>
        </p:spPr>
      </p:pic>
      <p:pic>
        <p:nvPicPr>
          <p:cNvPr id="9" name="Picture 8">
            <a:extLst>
              <a:ext uri="{FF2B5EF4-FFF2-40B4-BE49-F238E27FC236}">
                <a16:creationId xmlns:a16="http://schemas.microsoft.com/office/drawing/2014/main" id="{663043D9-511B-A60B-3165-EEF4E1BB9560}"/>
              </a:ext>
            </a:extLst>
          </p:cNvPr>
          <p:cNvPicPr>
            <a:picLocks noChangeAspect="1"/>
          </p:cNvPicPr>
          <p:nvPr/>
        </p:nvPicPr>
        <p:blipFill>
          <a:blip r:embed="rId4"/>
          <a:stretch>
            <a:fillRect/>
          </a:stretch>
        </p:blipFill>
        <p:spPr>
          <a:xfrm>
            <a:off x="5253071" y="1724307"/>
            <a:ext cx="5281602" cy="2815643"/>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7342494" y="2447135"/>
            <a:ext cx="4275138" cy="1134933"/>
          </a:xfrm>
        </p:spPr>
        <p:txBody>
          <a:bodyPr>
            <a:noAutofit/>
          </a:bodyPr>
          <a:lstStyle/>
          <a:p>
            <a:pPr marL="0" indent="0">
              <a:buNone/>
            </a:pPr>
            <a:r>
              <a:rPr lang="en-US" sz="1600" dirty="0"/>
              <a:t>* Kharif has the highest water efficiency: 5.89 </a:t>
            </a:r>
            <a:r>
              <a:rPr lang="en-US" sz="1600" dirty="0" err="1"/>
              <a:t>tonnes</a:t>
            </a:r>
            <a:r>
              <a:rPr lang="en-US" sz="1600" dirty="0"/>
              <a:t>/1000 m³.</a:t>
            </a:r>
          </a:p>
          <a:p>
            <a:pPr marL="0" indent="0">
              <a:buNone/>
            </a:pPr>
            <a:r>
              <a:rPr lang="en-US" sz="1600" dirty="0"/>
              <a:t>* Rabi: 5.19 </a:t>
            </a:r>
            <a:r>
              <a:rPr lang="en-US" sz="1600" dirty="0" err="1"/>
              <a:t>tonnes</a:t>
            </a:r>
            <a:r>
              <a:rPr lang="en-US" sz="1600" dirty="0"/>
              <a:t>/1000 m³.</a:t>
            </a:r>
          </a:p>
          <a:p>
            <a:pPr marL="0" indent="0">
              <a:buNone/>
            </a:pPr>
            <a:r>
              <a:rPr lang="en-US" sz="1600" dirty="0"/>
              <a:t>* Zaid: lowest at 4.41 </a:t>
            </a:r>
            <a:r>
              <a:rPr lang="en-US" sz="1600" dirty="0" err="1"/>
              <a:t>tonnes</a:t>
            </a:r>
            <a:r>
              <a:rPr lang="en-US" sz="1600" dirty="0"/>
              <a:t>/1000 m³.</a:t>
            </a:r>
          </a:p>
          <a:p>
            <a:pPr marL="0" indent="0">
              <a:buNone/>
            </a:pPr>
            <a:r>
              <a:rPr lang="en-US" sz="1600" dirty="0"/>
              <a:t>* Water efficiency declines from Kharif to Zaid.</a:t>
            </a:r>
            <a:endParaRPr lang="en-IN" sz="1600" dirty="0"/>
          </a:p>
        </p:txBody>
      </p:sp>
      <p:pic>
        <p:nvPicPr>
          <p:cNvPr id="3" name="Picture 2">
            <a:extLst>
              <a:ext uri="{FF2B5EF4-FFF2-40B4-BE49-F238E27FC236}">
                <a16:creationId xmlns:a16="http://schemas.microsoft.com/office/drawing/2014/main" id="{922743D6-06B3-3B8E-616A-D8A05759499A}"/>
              </a:ext>
            </a:extLst>
          </p:cNvPr>
          <p:cNvPicPr>
            <a:picLocks noChangeAspect="1"/>
          </p:cNvPicPr>
          <p:nvPr/>
        </p:nvPicPr>
        <p:blipFill>
          <a:blip r:embed="rId3"/>
          <a:stretch>
            <a:fillRect/>
          </a:stretch>
        </p:blipFill>
        <p:spPr>
          <a:xfrm>
            <a:off x="175940" y="1437815"/>
            <a:ext cx="7120341" cy="4534163"/>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AB286-BEE3-04E4-4C52-80DCA24B8E3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B70DA7D-E9D2-2A1B-3357-7C07BCE7FE9D}"/>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2E1D1D2-69CA-9F87-AF09-EF81948A6E02}"/>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A333DA0B-BBBB-1711-072F-8016EB05D768}"/>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65694040-69B0-B303-F659-23BCDCDCB63C}"/>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61243CB5-7061-033D-CD61-3994F7B1FED8}"/>
              </a:ext>
            </a:extLst>
          </p:cNvPr>
          <p:cNvSpPr>
            <a:spLocks noGrp="1"/>
          </p:cNvSpPr>
          <p:nvPr>
            <p:ph type="body" sz="quarter" idx="12"/>
          </p:nvPr>
        </p:nvSpPr>
        <p:spPr>
          <a:xfrm>
            <a:off x="7473543" y="2513310"/>
            <a:ext cx="4275138" cy="1831380"/>
          </a:xfrm>
        </p:spPr>
        <p:txBody>
          <a:bodyPr>
            <a:noAutofit/>
          </a:bodyPr>
          <a:lstStyle/>
          <a:p>
            <a:pPr marL="0" indent="0">
              <a:buNone/>
            </a:pPr>
            <a:r>
              <a:rPr lang="en-US" sz="1600" dirty="0"/>
              <a:t>* Correlation coefficient (r) = 0.389</a:t>
            </a:r>
          </a:p>
          <a:p>
            <a:pPr marL="0" indent="0">
              <a:buNone/>
            </a:pPr>
            <a:r>
              <a:rPr lang="en-US" sz="1600" dirty="0"/>
              <a:t>* Water usage shows a moderate positive relationship with crop yield.</a:t>
            </a:r>
          </a:p>
          <a:p>
            <a:pPr marL="0" indent="0">
              <a:buNone/>
            </a:pPr>
            <a:r>
              <a:rPr lang="en-US" sz="1600" dirty="0"/>
              <a:t>* Higher water usage is generally associated with higher yield, but water usage alone does not explain yield differences.</a:t>
            </a:r>
            <a:endParaRPr lang="en-IN" sz="1600" dirty="0"/>
          </a:p>
        </p:txBody>
      </p:sp>
      <p:pic>
        <p:nvPicPr>
          <p:cNvPr id="3" name="Picture 2">
            <a:extLst>
              <a:ext uri="{FF2B5EF4-FFF2-40B4-BE49-F238E27FC236}">
                <a16:creationId xmlns:a16="http://schemas.microsoft.com/office/drawing/2014/main" id="{A502E39C-9193-A2DF-F5FF-B8E9F86D33D3}"/>
              </a:ext>
            </a:extLst>
          </p:cNvPr>
          <p:cNvPicPr>
            <a:picLocks noChangeAspect="1"/>
          </p:cNvPicPr>
          <p:nvPr/>
        </p:nvPicPr>
        <p:blipFill>
          <a:blip r:embed="rId3"/>
          <a:stretch>
            <a:fillRect/>
          </a:stretch>
        </p:blipFill>
        <p:spPr>
          <a:xfrm>
            <a:off x="87537" y="1275371"/>
            <a:ext cx="7386006" cy="5257859"/>
          </a:xfrm>
          <a:prstGeom prst="rect">
            <a:avLst/>
          </a:prstGeom>
        </p:spPr>
      </p:pic>
    </p:spTree>
    <p:extLst>
      <p:ext uri="{BB962C8B-B14F-4D97-AF65-F5344CB8AC3E}">
        <p14:creationId xmlns:p14="http://schemas.microsoft.com/office/powerpoint/2010/main" val="1361780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18B14-0315-6E8A-6C28-835E025B672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8D5CB79-1F85-3C78-0703-30D596C20E7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C402373-0440-1D94-D201-22319787B96B}"/>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E4FF28CC-4240-1A40-3901-434C70C9AA0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756CC2E1-BED9-CD85-331A-A8F3128E14CB}"/>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AB09C99-EC1B-E154-00C8-D4F04D690427}"/>
              </a:ext>
            </a:extLst>
          </p:cNvPr>
          <p:cNvSpPr>
            <a:spLocks noGrp="1"/>
          </p:cNvSpPr>
          <p:nvPr>
            <p:ph type="body" sz="quarter" idx="12"/>
          </p:nvPr>
        </p:nvSpPr>
        <p:spPr>
          <a:xfrm>
            <a:off x="7952128" y="2405980"/>
            <a:ext cx="4275138" cy="2408788"/>
          </a:xfrm>
        </p:spPr>
        <p:txBody>
          <a:bodyPr>
            <a:noAutofit/>
          </a:bodyPr>
          <a:lstStyle/>
          <a:p>
            <a:pPr marL="0" indent="0">
              <a:buNone/>
            </a:pPr>
            <a:r>
              <a:rPr lang="en-US" sz="1600" dirty="0"/>
              <a:t>* Water usage showed the strongest positive correlation with yield (r = 0.389).</a:t>
            </a:r>
          </a:p>
          <a:p>
            <a:pPr marL="0" indent="0">
              <a:buNone/>
            </a:pPr>
            <a:r>
              <a:rPr lang="en-US" sz="1600" dirty="0"/>
              <a:t>* Most other factors showed very weak linear relationships with yield.</a:t>
            </a:r>
          </a:p>
          <a:p>
            <a:pPr marL="0" indent="0">
              <a:buNone/>
            </a:pPr>
            <a:r>
              <a:rPr lang="en-US" sz="1600" dirty="0"/>
              <a:t>* Fertilizer usage showed almost no linear association with yield (r = 0.001).</a:t>
            </a:r>
          </a:p>
          <a:p>
            <a:pPr marL="0" indent="0">
              <a:buNone/>
            </a:pPr>
            <a:r>
              <a:rPr lang="en-US" sz="1600" dirty="0"/>
              <a:t>* Correlation indicates association, not causation.</a:t>
            </a:r>
            <a:endParaRPr lang="en-IN" sz="1600" dirty="0"/>
          </a:p>
        </p:txBody>
      </p:sp>
      <p:pic>
        <p:nvPicPr>
          <p:cNvPr id="3" name="Picture 2">
            <a:extLst>
              <a:ext uri="{FF2B5EF4-FFF2-40B4-BE49-F238E27FC236}">
                <a16:creationId xmlns:a16="http://schemas.microsoft.com/office/drawing/2014/main" id="{861C0E8F-FF46-BC3B-6249-3A60BE37E56A}"/>
              </a:ext>
            </a:extLst>
          </p:cNvPr>
          <p:cNvPicPr>
            <a:picLocks noChangeAspect="1"/>
          </p:cNvPicPr>
          <p:nvPr/>
        </p:nvPicPr>
        <p:blipFill>
          <a:blip r:embed="rId3"/>
          <a:stretch>
            <a:fillRect/>
          </a:stretch>
        </p:blipFill>
        <p:spPr>
          <a:xfrm>
            <a:off x="145324" y="1188991"/>
            <a:ext cx="7806804" cy="4842766"/>
          </a:xfrm>
          <a:prstGeom prst="rect">
            <a:avLst/>
          </a:prstGeom>
        </p:spPr>
      </p:pic>
    </p:spTree>
    <p:extLst>
      <p:ext uri="{BB962C8B-B14F-4D97-AF65-F5344CB8AC3E}">
        <p14:creationId xmlns:p14="http://schemas.microsoft.com/office/powerpoint/2010/main" val="256642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FF72DD1B-F9FE-6ABF-8F5E-BC20DA003843}"/>
              </a:ext>
            </a:extLst>
          </p:cNvPr>
          <p:cNvSpPr txBox="1"/>
          <p:nvPr/>
        </p:nvSpPr>
        <p:spPr>
          <a:xfrm>
            <a:off x="956068" y="1425550"/>
            <a:ext cx="6098102" cy="4154984"/>
          </a:xfrm>
          <a:prstGeom prst="rect">
            <a:avLst/>
          </a:prstGeom>
          <a:noFill/>
        </p:spPr>
        <p:txBody>
          <a:bodyPr wrap="square">
            <a:spAutoFit/>
          </a:bodyPr>
          <a:lstStyle/>
          <a:p>
            <a:r>
              <a:rPr lang="en-US" sz="2400" dirty="0"/>
              <a:t>* Develop predictive models to forecast crop yield and profitability.</a:t>
            </a:r>
          </a:p>
          <a:p>
            <a:r>
              <a:rPr lang="en-US" sz="2400" dirty="0"/>
              <a:t>* Use machine learning to identify the key factors affecting agricultural performance.</a:t>
            </a:r>
          </a:p>
          <a:p>
            <a:r>
              <a:rPr lang="en-US" sz="2400" dirty="0"/>
              <a:t>* Build a Power BI dashboard for interactive seasonal and crop-level monitoring.</a:t>
            </a:r>
          </a:p>
          <a:p>
            <a:r>
              <a:rPr lang="en-US" sz="2400" dirty="0"/>
              <a:t>* Incorporate real-time weather and soil data for better decision-making.</a:t>
            </a:r>
          </a:p>
          <a:p>
            <a:r>
              <a:rPr lang="en-US" sz="2400" dirty="0"/>
              <a:t>* Extend the analysis to provide crop and irrigation recommendations.</a:t>
            </a:r>
            <a:endParaRPr lang="en-IN" sz="24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t>https://github.com/ayazqureshi14/Seasonal-Agricultural-Performance-Analysis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0728A472-2759-051D-45FC-880FFE18460E}"/>
              </a:ext>
            </a:extLst>
          </p:cNvPr>
          <p:cNvPicPr>
            <a:picLocks noChangeAspect="1"/>
          </p:cNvPicPr>
          <p:nvPr/>
        </p:nvPicPr>
        <p:blipFill>
          <a:blip r:embed="rId3"/>
          <a:stretch>
            <a:fillRect/>
          </a:stretch>
        </p:blipFill>
        <p:spPr>
          <a:xfrm>
            <a:off x="230647" y="1335514"/>
            <a:ext cx="10464680" cy="5329446"/>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532850" y="4759524"/>
            <a:ext cx="11340000" cy="898769"/>
          </a:xfrm>
          <a:prstGeom prst="rect">
            <a:avLst/>
          </a:prstGeom>
        </p:spPr>
        <p:txBody>
          <a:bodyPr anchor="ctr">
            <a:noAutofit/>
          </a:bodyPr>
          <a:lstStyle/>
          <a:p>
            <a:pPr algn="ctr"/>
            <a:r>
              <a:rPr lang="en-US" sz="3200" b="1" dirty="0">
                <a:solidFill>
                  <a:schemeClr val="tx1"/>
                </a:solidFill>
              </a:rPr>
              <a:t>Thank you</a:t>
            </a:r>
            <a:br>
              <a:rPr lang="en-US" sz="3200" b="1" dirty="0">
                <a:solidFill>
                  <a:schemeClr val="tx1"/>
                </a:solidFill>
              </a:rPr>
            </a:br>
            <a:r>
              <a:rPr lang="en-US" sz="3200" b="1" dirty="0">
                <a:solidFill>
                  <a:schemeClr val="tx1"/>
                </a:solidFill>
              </a:rPr>
              <a:t>Mohammad Ayaz Qureshi</a:t>
            </a:r>
            <a:br>
              <a:rPr lang="en-US" sz="3200" b="1" dirty="0">
                <a:solidFill>
                  <a:schemeClr val="tx1"/>
                </a:solidFill>
              </a:rPr>
            </a:br>
            <a:r>
              <a:rPr lang="en-US" sz="3200" b="1" dirty="0">
                <a:solidFill>
                  <a:schemeClr val="tx1"/>
                </a:solidFill>
              </a:rPr>
              <a:t>Jamia Millia Islamia</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6641492" y="4471100"/>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675957" y="420063"/>
            <a:ext cx="9274656" cy="4051037"/>
          </a:xfrm>
        </p:spPr>
        <p:txBody>
          <a:bodyPr>
            <a:normAutofit fontScale="25000" lnSpcReduction="20000"/>
          </a:bodyPr>
          <a:lstStyle/>
          <a:p>
            <a:r>
              <a:rPr lang="en-US" sz="6400" dirty="0"/>
              <a:t>Conclusion</a:t>
            </a:r>
          </a:p>
          <a:p>
            <a:endParaRPr lang="en-US" sz="6400" dirty="0"/>
          </a:p>
          <a:p>
            <a:r>
              <a:rPr lang="en-US" sz="6400" dirty="0"/>
              <a:t>This project </a:t>
            </a:r>
            <a:r>
              <a:rPr lang="en-US" sz="6400" dirty="0" err="1"/>
              <a:t>analysed</a:t>
            </a:r>
            <a:r>
              <a:rPr lang="en-US" sz="6400" dirty="0"/>
              <a:t> seasonal agricultural performance using data covering crops, environmental conditions, resource usage, production and economic outcomes.</a:t>
            </a:r>
          </a:p>
          <a:p>
            <a:r>
              <a:rPr lang="en-US" sz="6400" dirty="0"/>
              <a:t>The analysis found that Kharif had the highest average yield and profitability, while Zaid showed lower yield, negative average profit and lower water-use efficiency. However, the difference in yield across seasons was not statistically significant, whereas the difference in profit was statistically significant.</a:t>
            </a:r>
          </a:p>
          <a:p>
            <a:r>
              <a:rPr lang="en-US" sz="6400" dirty="0"/>
              <a:t>Water usage showed the strongest linear association with yield among the numerical factors </a:t>
            </a:r>
            <a:r>
              <a:rPr lang="en-US" sz="6400" dirty="0" err="1"/>
              <a:t>analysed</a:t>
            </a:r>
            <a:r>
              <a:rPr lang="en-US" sz="6400" dirty="0"/>
              <a:t>. The comparison of irrigation methods also showed that Drip irrigation had the highest average yield and profit in the dataset.</a:t>
            </a:r>
          </a:p>
          <a:p>
            <a:r>
              <a:rPr lang="en-US" sz="6400" dirty="0"/>
              <a:t>Overall, the findings highlight the importance of efficient water management, appropriate irrigation practices and season-specific agricultural planning. These insights can support more evidence-based decisions regarding resource allocation, crop selection and agricultural profitability.</a:t>
            </a:r>
            <a:endParaRPr lang="en-IN" sz="6400"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1420</TotalTime>
  <Words>969</Words>
  <Application>Microsoft Office PowerPoint</Application>
  <PresentationFormat>Widescreen</PresentationFormat>
  <Paragraphs>80</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Trebuchet MS</vt:lpstr>
      <vt:lpstr>Wingdings</vt:lpstr>
      <vt:lpstr>Wingdings 3</vt:lpstr>
      <vt:lpstr>Facet</vt:lpstr>
      <vt:lpstr>Project Title – Seasonal Agriculture Performance Analysis</vt:lpstr>
      <vt:lpstr>PROBLEM  STATEMENT</vt:lpstr>
      <vt:lpstr>Project Description  This project analyzes agricultural performance across Kharif, Rabi and Zaid seasons using data on crop yield, production, environmental conditions, resource usage and financial outcomes.  The analysis uses Python, Pandas and Matplotlib to clean and explore the dataset, compare seasonal and crop-wise performance, study relationships between agricultural factors and yield, and identify differences in profitability and resource efficiency.  The findings are used to identify high-performing crops, seasonal patterns, resource-use trends and areas for improving agricultural productivity and profitability.</vt:lpstr>
      <vt:lpstr>WHO ARE THE END USERS?</vt:lpstr>
      <vt:lpstr>Technology Used</vt:lpstr>
      <vt:lpstr>RESULTS </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 Mohammad Ayaz Qureshi Jamia Millia Islamia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Ayaz Qureshi</cp:lastModifiedBy>
  <cp:revision>101</cp:revision>
  <dcterms:created xsi:type="dcterms:W3CDTF">2021-07-11T13:13:15Z</dcterms:created>
  <dcterms:modified xsi:type="dcterms:W3CDTF">2026-09-07T18:37:00Z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